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5" d="100"/>
          <a:sy n="75" d="100"/>
        </p:scale>
        <p:origin x="456"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eastboy77777/Healthcare-Analytics-For-Doctor-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Beastboy77777/Healthcare-Analytics-For-Doctor-Visits"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49900" y="4141999"/>
            <a:ext cx="4163061" cy="1166601"/>
          </a:xfrm>
        </p:spPr>
        <p:txBody>
          <a:bodyPr>
            <a:noAutofit/>
          </a:bodyPr>
          <a:lstStyle/>
          <a:p>
            <a:pPr algn="r"/>
            <a:r>
              <a:rPr lang="en-US" b="0" dirty="0">
                <a:solidFill>
                  <a:schemeClr val="tx1"/>
                </a:solidFill>
              </a:rPr>
              <a:t>VASANTHAN K</a:t>
            </a:r>
          </a:p>
          <a:p>
            <a:r>
              <a:rPr lang="en-US" b="0" dirty="0">
                <a:solidFill>
                  <a:schemeClr val="tx1"/>
                </a:solidFill>
              </a:rPr>
              <a:t>AICTE Student ID: </a:t>
            </a:r>
            <a:r>
              <a:rPr lang="en-IN" b="0" dirty="0"/>
              <a:t>STU67e7ac832ee361743236227</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2"/>
            <a:ext cx="4850429" cy="1060947"/>
          </a:xfrm>
        </p:spPr>
        <p:txBody>
          <a:bodyPr>
            <a:normAutofit fontScale="90000"/>
          </a:bodyPr>
          <a:lstStyle/>
          <a:p>
            <a:r>
              <a:rPr lang="en-GB" sz="3200" dirty="0"/>
              <a:t>Healthcare Analytics For</a:t>
            </a:r>
            <a:br>
              <a:rPr lang="en-GB" sz="3200" dirty="0"/>
            </a:br>
            <a:r>
              <a:rPr lang="en-GB" sz="3200" dirty="0"/>
              <a:t>Doctor Visits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875556"/>
            <a:ext cx="6573520" cy="4319687"/>
          </a:xfrm>
        </p:spPr>
        <p:txBody>
          <a:bodyPr>
            <a:normAutofit fontScale="70000" lnSpcReduction="20000"/>
          </a:bodyPr>
          <a:lstStyle/>
          <a:p>
            <a:pPr marL="0" indent="0">
              <a:buNone/>
            </a:pPr>
            <a:endParaRPr lang="en-IN" sz="2800" b="1" dirty="0">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buNone/>
            </a:pPr>
            <a:r>
              <a:rPr lang="en-IN" sz="2800" dirty="0">
                <a:latin typeface="Calibri" panose="020F0502020204030204" pitchFamily="34" charset="0"/>
                <a:ea typeface="Calibri" panose="020F0502020204030204" pitchFamily="34" charset="0"/>
                <a:cs typeface="Calibri" panose="020F0502020204030204" pitchFamily="34" charset="0"/>
              </a:rPr>
              <a:t>Healthcare providers need to understand the factors influencing patients’ doctor visits to better analyze healthcare utilization patterns. This project aims to analyze healthcare data using Python to identify patterns in doctor visits based on demographic and health-related factors such as age, gender, illness, and income. Through data cleaning, exploratory data analysis, and visualizations, the project seeks to examine visit distributions, compare average visits across different groups, and understand the relationship between patients’ characteristics and their healthcare-seeking behaviour.</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DE86C5DC-6ECD-5988-D061-FD9752331821}"/>
              </a:ext>
            </a:extLst>
          </p:cNvPr>
          <p:cNvSpPr txBox="1"/>
          <p:nvPr/>
        </p:nvSpPr>
        <p:spPr>
          <a:xfrm>
            <a:off x="660399" y="1854201"/>
            <a:ext cx="6451601" cy="3477875"/>
          </a:xfrm>
          <a:prstGeom prst="rect">
            <a:avLst/>
          </a:prstGeom>
          <a:noFill/>
        </p:spPr>
        <p:txBody>
          <a:bodyPr wrap="square" rtlCol="0">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Healthcare Analytics for Doctor Visits is a data analysis project developed using Python to explore patient healthcare utilization patterns. The project involves data preprocessing, cleaning, exploratory data analysis (EDA), and data visualization to examine doctor visits and identify trends across patient groups. Using Python libraries such as Pandas, NumPy, Matplotlib, and Seaborn, the analysis aims to extract meaningful insights from healthcare data and understand how patient characteristics relate to doctor visit frequency.</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56623"/>
            <a:ext cx="7904481" cy="4742816"/>
          </a:xfrm>
        </p:spPr>
        <p:txBody>
          <a:bodyPr>
            <a:noAutofit/>
          </a:bodyPr>
          <a:lstStyle/>
          <a:p>
            <a:r>
              <a:rPr lang="en-IN" b="1" dirty="0">
                <a:latin typeface="Calibri" panose="020F0502020204030204" pitchFamily="34" charset="0"/>
                <a:ea typeface="Calibri" panose="020F0502020204030204" pitchFamily="34" charset="0"/>
                <a:cs typeface="Calibri" panose="020F0502020204030204" pitchFamily="34" charset="0"/>
              </a:rPr>
              <a:t>Healthcare Administrators </a:t>
            </a:r>
            <a:r>
              <a:rPr lang="en-IN" dirty="0">
                <a:latin typeface="Calibri" panose="020F0502020204030204" pitchFamily="34" charset="0"/>
                <a:ea typeface="Calibri" panose="020F0502020204030204" pitchFamily="34" charset="0"/>
                <a:cs typeface="Calibri" panose="020F0502020204030204" pitchFamily="34" charset="0"/>
              </a:rPr>
              <a:t>– To understand patient visit patterns and support resource planning.</a:t>
            </a:r>
          </a:p>
          <a:p>
            <a:pPr lvl="0"/>
            <a:r>
              <a:rPr lang="en-IN" b="1" dirty="0">
                <a:latin typeface="Calibri" panose="020F0502020204030204" pitchFamily="34" charset="0"/>
                <a:ea typeface="Calibri" panose="020F0502020204030204" pitchFamily="34" charset="0"/>
                <a:cs typeface="Calibri" panose="020F0502020204030204" pitchFamily="34" charset="0"/>
              </a:rPr>
              <a:t>Doctors and Medical Professionals</a:t>
            </a:r>
            <a:r>
              <a:rPr lang="en-IN" dirty="0">
                <a:latin typeface="Calibri" panose="020F0502020204030204" pitchFamily="34" charset="0"/>
                <a:ea typeface="Calibri" panose="020F0502020204030204" pitchFamily="34" charset="0"/>
                <a:cs typeface="Calibri" panose="020F0502020204030204" pitchFamily="34" charset="0"/>
              </a:rPr>
              <a:t> – To gain insights into patients’ healthcare-seeking behaviour.</a:t>
            </a:r>
          </a:p>
          <a:p>
            <a:pPr lvl="0"/>
            <a:r>
              <a:rPr lang="en-IN" b="1" dirty="0">
                <a:latin typeface="Calibri" panose="020F0502020204030204" pitchFamily="34" charset="0"/>
                <a:ea typeface="Calibri" panose="020F0502020204030204" pitchFamily="34" charset="0"/>
                <a:cs typeface="Calibri" panose="020F0502020204030204" pitchFamily="34" charset="0"/>
              </a:rPr>
              <a:t>Hospital and Clinic Management </a:t>
            </a:r>
            <a:r>
              <a:rPr lang="en-IN" dirty="0">
                <a:latin typeface="Calibri" panose="020F0502020204030204" pitchFamily="34" charset="0"/>
                <a:ea typeface="Calibri" panose="020F0502020204030204" pitchFamily="34" charset="0"/>
                <a:cs typeface="Calibri" panose="020F0502020204030204" pitchFamily="34" charset="0"/>
              </a:rPr>
              <a:t>– To improve service planning based on healthcare utilization trends.</a:t>
            </a:r>
          </a:p>
          <a:p>
            <a:pPr lvl="0"/>
            <a:r>
              <a:rPr lang="en-IN" b="1" dirty="0">
                <a:latin typeface="Calibri" panose="020F0502020204030204" pitchFamily="34" charset="0"/>
                <a:ea typeface="Calibri" panose="020F0502020204030204" pitchFamily="34" charset="0"/>
                <a:cs typeface="Calibri" panose="020F0502020204030204" pitchFamily="34" charset="0"/>
              </a:rPr>
              <a:t>Public Health Researchers </a:t>
            </a:r>
            <a:r>
              <a:rPr lang="en-IN" dirty="0">
                <a:latin typeface="Calibri" panose="020F0502020204030204" pitchFamily="34" charset="0"/>
                <a:ea typeface="Calibri" panose="020F0502020204030204" pitchFamily="34" charset="0"/>
                <a:cs typeface="Calibri" panose="020F0502020204030204" pitchFamily="34" charset="0"/>
              </a:rPr>
              <a:t>– To study factors influencing doctor visits across different patient groups.</a:t>
            </a:r>
          </a:p>
          <a:p>
            <a:pPr lvl="0"/>
            <a:r>
              <a:rPr lang="en-IN" b="1" dirty="0">
                <a:latin typeface="Calibri" panose="020F0502020204030204" pitchFamily="34" charset="0"/>
                <a:ea typeface="Calibri" panose="020F0502020204030204" pitchFamily="34" charset="0"/>
                <a:cs typeface="Calibri" panose="020F0502020204030204" pitchFamily="34" charset="0"/>
              </a:rPr>
              <a:t>Government Health Departments </a:t>
            </a:r>
            <a:r>
              <a:rPr lang="en-IN" dirty="0">
                <a:latin typeface="Calibri" panose="020F0502020204030204" pitchFamily="34" charset="0"/>
                <a:ea typeface="Calibri" panose="020F0502020204030204" pitchFamily="34" charset="0"/>
                <a:cs typeface="Calibri" panose="020F0502020204030204" pitchFamily="34" charset="0"/>
              </a:rPr>
              <a:t>– To support healthcare policy and public health planning.</a:t>
            </a:r>
          </a:p>
          <a:p>
            <a:pPr lvl="0"/>
            <a:r>
              <a:rPr lang="en-IN" b="1" dirty="0">
                <a:latin typeface="Calibri" panose="020F0502020204030204" pitchFamily="34" charset="0"/>
                <a:ea typeface="Calibri" panose="020F0502020204030204" pitchFamily="34" charset="0"/>
                <a:cs typeface="Calibri" panose="020F0502020204030204" pitchFamily="34" charset="0"/>
              </a:rPr>
              <a:t>Data Analysts </a:t>
            </a:r>
            <a:r>
              <a:rPr lang="en-IN" dirty="0">
                <a:latin typeface="Calibri" panose="020F0502020204030204" pitchFamily="34" charset="0"/>
                <a:ea typeface="Calibri" panose="020F0502020204030204" pitchFamily="34" charset="0"/>
                <a:cs typeface="Calibri" panose="020F0502020204030204" pitchFamily="34" charset="0"/>
              </a:rPr>
              <a:t>– To analyze healthcare data and identify meaningful trends and patterns.</a:t>
            </a:r>
          </a:p>
          <a:p>
            <a:pPr algn="just">
              <a:lnSpc>
                <a:spcPct val="150000"/>
              </a:lnSpc>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52094" y="1713230"/>
            <a:ext cx="2936782" cy="3812540"/>
          </a:xfrm>
        </p:spPr>
        <p:txBody>
          <a:bodyPr/>
          <a:lstStyle/>
          <a:p>
            <a:pPr lvl="0"/>
            <a:r>
              <a:rPr lang="en-IN" b="1" dirty="0">
                <a:latin typeface="Calibri" panose="020F0502020204030204" pitchFamily="34" charset="0"/>
                <a:ea typeface="Calibri" panose="020F0502020204030204" pitchFamily="34" charset="0"/>
                <a:cs typeface="Calibri" panose="020F0502020204030204" pitchFamily="34" charset="0"/>
              </a:rPr>
              <a:t>Python</a:t>
            </a:r>
          </a:p>
          <a:p>
            <a:pPr lvl="0"/>
            <a:r>
              <a:rPr lang="en-IN" b="1" dirty="0">
                <a:latin typeface="Calibri" panose="020F0502020204030204" pitchFamily="34" charset="0"/>
                <a:ea typeface="Calibri" panose="020F0502020204030204" pitchFamily="34" charset="0"/>
                <a:cs typeface="Calibri" panose="020F0502020204030204" pitchFamily="34" charset="0"/>
              </a:rPr>
              <a:t>Jupyter Notebook</a:t>
            </a:r>
          </a:p>
          <a:p>
            <a:pPr lvl="0"/>
            <a:r>
              <a:rPr lang="en-IN" b="1" dirty="0">
                <a:latin typeface="Calibri" panose="020F0502020204030204" pitchFamily="34" charset="0"/>
                <a:ea typeface="Calibri" panose="020F0502020204030204" pitchFamily="34" charset="0"/>
                <a:cs typeface="Calibri" panose="020F0502020204030204" pitchFamily="34" charset="0"/>
              </a:rPr>
              <a:t>Pandas</a:t>
            </a:r>
          </a:p>
          <a:p>
            <a:pPr lvl="0"/>
            <a:r>
              <a:rPr lang="en-IN" b="1" dirty="0">
                <a:latin typeface="Calibri" panose="020F0502020204030204" pitchFamily="34" charset="0"/>
                <a:ea typeface="Calibri" panose="020F0502020204030204" pitchFamily="34" charset="0"/>
                <a:cs typeface="Calibri" panose="020F0502020204030204" pitchFamily="34" charset="0"/>
              </a:rPr>
              <a:t>NumPy</a:t>
            </a:r>
          </a:p>
          <a:p>
            <a:pPr lvl="0"/>
            <a:r>
              <a:rPr lang="en-IN" b="1" dirty="0">
                <a:latin typeface="Calibri" panose="020F0502020204030204" pitchFamily="34" charset="0"/>
                <a:ea typeface="Calibri" panose="020F0502020204030204" pitchFamily="34" charset="0"/>
                <a:cs typeface="Calibri" panose="020F0502020204030204" pitchFamily="34" charset="0"/>
              </a:rPr>
              <a:t>Matplotlib</a:t>
            </a:r>
          </a:p>
          <a:p>
            <a:pPr lvl="0"/>
            <a:r>
              <a:rPr lang="en-IN" b="1" dirty="0">
                <a:latin typeface="Calibri" panose="020F0502020204030204" pitchFamily="34" charset="0"/>
                <a:ea typeface="Calibri" panose="020F0502020204030204" pitchFamily="34" charset="0"/>
                <a:cs typeface="Calibri" panose="020F0502020204030204" pitchFamily="34" charset="0"/>
              </a:rPr>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09121" y="6230203"/>
            <a:ext cx="1583641" cy="4347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chemeClr val="accent2">
                    <a:lumMod val="75000"/>
                  </a:schemeClr>
                </a:solidFill>
                <a:hlinkClick r:id="rId3">
                  <a:extLst>
                    <a:ext uri="{A12FA001-AC4F-418D-AE19-62706E023703}">
                      <ahyp:hlinkClr xmlns:ahyp="http://schemas.microsoft.com/office/drawing/2018/hyperlinkcolor" val="tx"/>
                    </a:ext>
                  </a:extLst>
                </a:hlinkClick>
              </a:rPr>
              <a:t>Github Link</a:t>
            </a:r>
            <a:endParaRPr lang="en-IN" sz="2000" b="0" u="sng" dirty="0">
              <a:solidFill>
                <a:schemeClr val="accent2">
                  <a:lumMod val="75000"/>
                </a:schemeClr>
              </a:solidFill>
            </a:endParaRPr>
          </a:p>
        </p:txBody>
      </p:sp>
      <p:pic>
        <p:nvPicPr>
          <p:cNvPr id="11" name="Picture 10">
            <a:extLst>
              <a:ext uri="{FF2B5EF4-FFF2-40B4-BE49-F238E27FC236}">
                <a16:creationId xmlns:a16="http://schemas.microsoft.com/office/drawing/2014/main" id="{9F3DA10D-185D-0C97-0272-73D21EDFDA21}"/>
              </a:ext>
            </a:extLst>
          </p:cNvPr>
          <p:cNvPicPr>
            <a:picLocks noChangeAspect="1"/>
          </p:cNvPicPr>
          <p:nvPr/>
        </p:nvPicPr>
        <p:blipFill>
          <a:blip r:embed="rId4"/>
          <a:stretch>
            <a:fillRect/>
          </a:stretch>
        </p:blipFill>
        <p:spPr>
          <a:xfrm>
            <a:off x="1117009" y="1363601"/>
            <a:ext cx="8459381" cy="427732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FF1E-90AF-D2BA-AF9A-6F73BCCD41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0D4B82-40A2-9520-7429-DF8CB16252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6F2F8B2-167A-8878-A0E2-DDC5BDBF729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A902913-4A2A-CCB8-EBE3-F216D4F7AF0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D87168B-421C-DEFC-CB1C-3C65CAB2F49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8578490-A5E3-3948-6ADC-BDDB8EBAAD0C}"/>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F622946B-339F-F1BF-A4FE-927F76BA2784}"/>
              </a:ext>
            </a:extLst>
          </p:cNvPr>
          <p:cNvPicPr>
            <a:picLocks noChangeAspect="1"/>
          </p:cNvPicPr>
          <p:nvPr/>
        </p:nvPicPr>
        <p:blipFill>
          <a:blip r:embed="rId3"/>
          <a:stretch>
            <a:fillRect/>
          </a:stretch>
        </p:blipFill>
        <p:spPr>
          <a:xfrm>
            <a:off x="858801" y="1343940"/>
            <a:ext cx="8853390" cy="423868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233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1697-36D7-0910-6D2A-6D17A3A8BD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1E812C-5A7E-1145-66C5-38F96D00939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49C6B9-CE5F-3BF0-62D4-D6AF8E256CC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F54A217-ABB6-8AEE-4D19-A6CE268D049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680B138-4B56-6FB2-505A-D953482FEFF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1144232-9842-0AA0-705E-F6AD86741D68}"/>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812A91A7-02C8-02A9-98FA-4F5A18B586E7}"/>
              </a:ext>
            </a:extLst>
          </p:cNvPr>
          <p:cNvPicPr>
            <a:picLocks noChangeAspect="1"/>
          </p:cNvPicPr>
          <p:nvPr/>
        </p:nvPicPr>
        <p:blipFill>
          <a:blip r:embed="rId3"/>
          <a:stretch>
            <a:fillRect/>
          </a:stretch>
        </p:blipFill>
        <p:spPr>
          <a:xfrm>
            <a:off x="851545" y="1275371"/>
            <a:ext cx="5106113" cy="459169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0822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BDA52-5BCC-8252-3181-8C7E34173D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2E2BF3-2FC8-22C3-5D42-9371A94E97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2EA4C3-B389-EBF7-1A86-37A225B55B8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8FA5186-C9B6-457E-1CB4-8B5B96296AE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B0176E2-848B-10DE-7293-BD869CA27E3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18CA93A-29B3-AD21-005A-5C817947223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D1776AC3-8650-14F7-D8C4-8F7D8FFBD704}"/>
              </a:ext>
            </a:extLst>
          </p:cNvPr>
          <p:cNvPicPr>
            <a:picLocks noChangeAspect="1"/>
          </p:cNvPicPr>
          <p:nvPr/>
        </p:nvPicPr>
        <p:blipFill>
          <a:blip r:embed="rId3"/>
          <a:stretch>
            <a:fillRect/>
          </a:stretch>
        </p:blipFill>
        <p:spPr>
          <a:xfrm>
            <a:off x="842019" y="1521567"/>
            <a:ext cx="5876281" cy="444128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4747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D9D4-5FA5-74A3-C951-B0FEFA7736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37E173-F6C8-B94B-9B53-0873667BF60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401684A-B423-87A4-51F8-35655B57F4C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70A8CDE-3B26-E5F8-157D-358966A37EE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1BEC37A-B6C8-6D43-057C-D3956A5EA1D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C71F216-7643-40C5-3940-113E4C28D0C5}"/>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10" name="Picture 9">
            <a:extLst>
              <a:ext uri="{FF2B5EF4-FFF2-40B4-BE49-F238E27FC236}">
                <a16:creationId xmlns:a16="http://schemas.microsoft.com/office/drawing/2014/main" id="{87447BFB-D6CE-207D-ED90-42004D5CA234}"/>
              </a:ext>
            </a:extLst>
          </p:cNvPr>
          <p:cNvPicPr>
            <a:picLocks noChangeAspect="1"/>
          </p:cNvPicPr>
          <p:nvPr/>
        </p:nvPicPr>
        <p:blipFill>
          <a:blip r:embed="rId3"/>
          <a:stretch>
            <a:fillRect/>
          </a:stretch>
        </p:blipFill>
        <p:spPr>
          <a:xfrm>
            <a:off x="770782" y="1340494"/>
            <a:ext cx="5325218" cy="481079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0227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E6F5-1544-6F0F-6F90-3EA0E7731D5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CC97A5-602E-9A47-A19B-6876F4828A6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3851CA-937D-3EE7-38D0-D2878D9957B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DC33EC1-7508-C1F5-D0BF-27EA65836A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4CA113D-A422-50E3-F1E4-DDDC44225EE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E23D7B8-1905-B790-B165-553B58E0D4D1}"/>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0540BF71-6F17-3808-A4EB-4B62921B61B1}"/>
              </a:ext>
            </a:extLst>
          </p:cNvPr>
          <p:cNvPicPr>
            <a:picLocks noChangeAspect="1"/>
          </p:cNvPicPr>
          <p:nvPr/>
        </p:nvPicPr>
        <p:blipFill>
          <a:blip r:embed="rId3"/>
          <a:stretch>
            <a:fillRect/>
          </a:stretch>
        </p:blipFill>
        <p:spPr>
          <a:xfrm>
            <a:off x="796595" y="1197520"/>
            <a:ext cx="5801535" cy="543000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5948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A128-E9A0-99EE-F083-99E2E3EEF9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EA4F5C-C92E-8EBF-F2A6-D0837670F73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6C8DC5F-E0CC-66D0-917A-AC9F6274DEF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CF937B6-06CB-8B7D-A97B-7F2BDC11FD3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27292DF-567D-8745-C3EC-A303D2C351E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217748FC-0467-5E54-5F5E-5AF41C57C018}"/>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10" name="Picture 9">
            <a:extLst>
              <a:ext uri="{FF2B5EF4-FFF2-40B4-BE49-F238E27FC236}">
                <a16:creationId xmlns:a16="http://schemas.microsoft.com/office/drawing/2014/main" id="{B164F419-4BD9-1E36-5EF7-68B5501133CE}"/>
              </a:ext>
            </a:extLst>
          </p:cNvPr>
          <p:cNvPicPr>
            <a:picLocks noChangeAspect="1"/>
          </p:cNvPicPr>
          <p:nvPr/>
        </p:nvPicPr>
        <p:blipFill>
          <a:blip r:embed="rId3"/>
          <a:stretch>
            <a:fillRect/>
          </a:stretch>
        </p:blipFill>
        <p:spPr>
          <a:xfrm>
            <a:off x="783801" y="1453101"/>
            <a:ext cx="6772700" cy="503431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1057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7AAA-6924-6CB6-96EF-6A7E65AFB1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5AF637-DD38-0719-89CE-98439419DE9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22A73E-4825-4B9E-6437-2F43E1A1C2D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F2BFF56-67A1-EE7E-6C4E-4438C62F15D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351C80D-6878-4EAE-F82C-D91D2100F23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7B2AADC-33E3-512C-1E4E-83812FB78C30}"/>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B4BB6DA3-1CB5-5482-84FB-0F996A2D2000}"/>
              </a:ext>
            </a:extLst>
          </p:cNvPr>
          <p:cNvPicPr>
            <a:picLocks noChangeAspect="1"/>
          </p:cNvPicPr>
          <p:nvPr/>
        </p:nvPicPr>
        <p:blipFill>
          <a:blip r:embed="rId3"/>
          <a:stretch>
            <a:fillRect/>
          </a:stretch>
        </p:blipFill>
        <p:spPr>
          <a:xfrm>
            <a:off x="818801" y="1281327"/>
            <a:ext cx="4991797" cy="528711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6900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B5E11-E260-8DD9-95EE-2DE3984812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6187E18-9887-5956-069A-E9C7F579D65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4BA4D2E-EAF5-0C95-C75C-C7221F21B18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926F434-FD4B-92A1-82DE-88D654FEE1F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12B7602-BE94-208B-B35D-A998C1EF2F8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F6C5771-2562-7601-8E4B-9B205E9BC3C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3" name="Picture 2">
            <a:extLst>
              <a:ext uri="{FF2B5EF4-FFF2-40B4-BE49-F238E27FC236}">
                <a16:creationId xmlns:a16="http://schemas.microsoft.com/office/drawing/2014/main" id="{E983422B-F7B6-71DC-D4C2-B6230A7937DF}"/>
              </a:ext>
            </a:extLst>
          </p:cNvPr>
          <p:cNvPicPr>
            <a:picLocks noChangeAspect="1"/>
          </p:cNvPicPr>
          <p:nvPr/>
        </p:nvPicPr>
        <p:blipFill>
          <a:blip r:embed="rId3"/>
          <a:stretch>
            <a:fillRect/>
          </a:stretch>
        </p:blipFill>
        <p:spPr>
          <a:xfrm>
            <a:off x="792905" y="1275371"/>
            <a:ext cx="6249272" cy="524900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4249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989537" y="2895427"/>
            <a:ext cx="7756046" cy="1108635"/>
          </a:xfrm>
        </p:spPr>
        <p:txBody>
          <a:bodyPr>
            <a:noAutofit/>
          </a:bodyPr>
          <a:lstStyle/>
          <a:p>
            <a:pPr algn="l"/>
            <a:r>
              <a:rPr lang="en-IN" dirty="0">
                <a:solidFill>
                  <a:srgbClr val="FF0000"/>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Github Link: https://github.com/Beastboy77777/Healthcare-Analytics-For-Doctor-Visits</a:t>
            </a:r>
            <a:endParaRPr lang="en-IN"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605</TotalTime>
  <Words>328</Words>
  <Application>Microsoft Office PowerPoint</Application>
  <PresentationFormat>Widescreen</PresentationFormat>
  <Paragraphs>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Healthcare Analytics For Doctor Visits TIRTC</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VASANTHAN K</cp:lastModifiedBy>
  <cp:revision>78</cp:revision>
  <dcterms:created xsi:type="dcterms:W3CDTF">2021-07-11T13:13:15Z</dcterms:created>
  <dcterms:modified xsi:type="dcterms:W3CDTF">2026-10-10T14:15:37Z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